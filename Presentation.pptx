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3"/>
    <p:sldId id="257" r:id="rId4"/>
    <p:sldId id="259" r:id="rId5"/>
    <p:sldId id="260" r:id="rId6"/>
    <p:sldId id="262" r:id="rId7"/>
    <p:sldId id="261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80CD189-5C18-4A44-88C7-85A69B24888F}">
          <p14:sldIdLst>
            <p14:sldId id="256"/>
            <p14:sldId id="263"/>
            <p14:sldId id="257"/>
            <p14:sldId id="259"/>
            <p14:sldId id="260"/>
            <p14:sldId id="262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7" d="100"/>
          <a:sy n="87" d="100"/>
        </p:scale>
        <p:origin x="12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82B73-7BF7-D2C5-357B-7366AAAF2649}"/>
              </a:ext>
            </a:extLst>
          </p:cNvPr>
          <p:cNvSpPr txBox="1"/>
          <p:nvPr/>
        </p:nvSpPr>
        <p:spPr>
          <a:xfrm>
            <a:off x="5169877" y="4528038"/>
            <a:ext cx="387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Tata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 for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Geldium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Collections Leadership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8B1482-670F-1FC2-04E7-BFEDA606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458025"/>
            <a:ext cx="8123053" cy="68610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Portfolio Delinquency Drivers (EDA Summary)</a:t>
            </a:r>
            <a:endParaRPr lang="en-IN" sz="27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CC2569-48AC-053E-F90A-5CDB0ED28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1" y="1759697"/>
            <a:ext cx="7920830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16% Baseline Delinquency: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heavily imbalanced portfolio where standard accuracy fails, demanding AUC-ROC and recall optimization.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Recency Trumps History: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Missed/late payments in Month_5 and Month_6 represent immediate liquidity failure, outranking older payment behavior. 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Compound Leverage Risk: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Credit utilization exceeding 100% paired with high debt-to-income creates a high-probability default spiral requiring proactive credit freezes. </a:t>
            </a:r>
          </a:p>
        </p:txBody>
      </p:sp>
    </p:spTree>
    <p:extLst>
      <p:ext uri="{BB962C8B-B14F-4D97-AF65-F5344CB8AC3E}">
        <p14:creationId xmlns:p14="http://schemas.microsoft.com/office/powerpoint/2010/main" val="162775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350" y="704973"/>
            <a:ext cx="8369300" cy="6858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US" dirty="0"/>
              <a:t>How the System Works:</a:t>
            </a:r>
            <a:br>
              <a:rPr lang="en-US" dirty="0"/>
            </a:br>
            <a:r>
              <a:rPr lang="en-US" dirty="0"/>
              <a:t>				    </a:t>
            </a:r>
            <a:r>
              <a:rPr lang="en-US" sz="2000" dirty="0"/>
              <a:t>4-stage operating pipeline</a:t>
            </a:r>
            <a:endParaRPr lang="en-US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350" y="1604962"/>
            <a:ext cx="8369300" cy="307975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(Data Ingestion): Ingests repayment history (Month_1–Month_6), credit exposure (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Credit_Utilization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Loan_Balance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Debt_to_Income_Ratio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customer demographics (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Age,Employment_Status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 (Hybrid Scoring): Applies business boundary rules combined with a Gradient Boosted Tree model to compute a real-time default probability ($P(\text{Delinquency})$).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(Multi-Tiered Intervention): Automatically triggers proportional outreach: low-risk accounts receive SMS/email payment reminders, medium-risk accounts receive flexible payment restructuring options, and severe cases route to specialized human care teams.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Loop (Outcome Tracking): Continuously records repayment outcomes, promise-to-pay fulfillments, and customer interactions to dynamically update risk weights and trigger scheduled monthly model retraining.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E717C-358A-0CBD-8AED-DE5D4D482D62}"/>
              </a:ext>
            </a:extLst>
          </p:cNvPr>
          <p:cNvSpPr txBox="1"/>
          <p:nvPr/>
        </p:nvSpPr>
        <p:spPr>
          <a:xfrm>
            <a:off x="387350" y="4438527"/>
            <a:ext cx="8756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replaces reactive, post-due recovery with an automated end-to-end feedback loop. Financial indicators and payment trends are evaluated continuously, allowing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Geldium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intervene weeks before an account formally defaults.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AI:</a:t>
            </a:r>
            <a:br>
              <a:rPr lang="en" dirty="0"/>
            </a:br>
            <a:r>
              <a:rPr lang="en" dirty="0"/>
              <a:t>			</a:t>
            </a:r>
            <a:r>
              <a:rPr lang="en" sz="1800" dirty="0"/>
              <a:t>   Autonomous Vs. Human Oversight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588E93-CA1C-203A-E632-205006923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95050"/>
              </p:ext>
            </p:extLst>
          </p:nvPr>
        </p:nvGraphicFramePr>
        <p:xfrm>
          <a:off x="387900" y="1260575"/>
          <a:ext cx="8272524" cy="3108960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4136262">
                  <a:extLst>
                    <a:ext uri="{9D8B030D-6E8A-4147-A177-3AD203B41FA5}">
                      <a16:colId xmlns:a16="http://schemas.microsoft.com/office/drawing/2014/main" val="1628280445"/>
                    </a:ext>
                  </a:extLst>
                </a:gridCol>
                <a:gridCol w="4136262">
                  <a:extLst>
                    <a:ext uri="{9D8B030D-6E8A-4147-A177-3AD203B41FA5}">
                      <a16:colId xmlns:a16="http://schemas.microsoft.com/office/drawing/2014/main" val="520848266"/>
                    </a:ext>
                  </a:extLst>
                </a:gridCol>
              </a:tblGrid>
              <a:tr h="53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Tasks (Agentic AI) Early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Oversight (Human-in-the-Loop)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163637"/>
                  </a:ext>
                </a:extLst>
              </a:tr>
              <a:tr h="2292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Outreach: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Automated SMS/email alerts for accounts with default risk $P \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0.35$. </a:t>
                      </a: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Delivery: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Autonomously selecting the best contact time and channel based on customer habits. </a:t>
                      </a: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Self-Service Plans: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Generating pre-approved 30–60 day payment installment schedules. </a:t>
                      </a: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Telemetry: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Real-time tracking of data drift and population stability shifts. 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Hardship Approval: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Authorizing balance reductions, debt settlements, or long-term forbearance.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Vulnerable Borrower Care: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Manual handling of borrowers facing acute life events (medical crises, job loss).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Actions &amp; Charge-Offs: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Final sign-off before debt recovery escalation or formal credit write-offs.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Governance Audits: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Routine reviews of fair-lending metrics, adverse actions, and model retraining cycles.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997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B1C4547-4C23-6440-8CFC-6BD4DAB4F196}"/>
              </a:ext>
            </a:extLst>
          </p:cNvPr>
          <p:cNvSpPr txBox="1"/>
          <p:nvPr/>
        </p:nvSpPr>
        <p:spPr>
          <a:xfrm>
            <a:off x="307731" y="4369535"/>
            <a:ext cx="8176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Routine, high-volume communications are completely automated to ensure speed and scale. High-impact credit modifications, vulnerable borrower negotiations, and legal escalations remain strictly in the hands of trained human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IN" dirty="0"/>
              <a:t>Responsible AI Guardrails:</a:t>
            </a:r>
            <a:br>
              <a:rPr lang="en-IN" dirty="0"/>
            </a:br>
            <a:r>
              <a:rPr lang="en-IN" dirty="0"/>
              <a:t>				       </a:t>
            </a:r>
            <a:r>
              <a:rPr lang="en-IN" sz="1800" dirty="0"/>
              <a:t>Fairness, Transparnecy  Compliance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909B40-B178-6760-3EAC-0062E84B7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405456"/>
            <a:ext cx="8369300" cy="287771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Fairness Audits: Tracks Disparate Impact and Demographic Parity across Age groups and Location cohorts to ensure no demographic segment is penalized unfairly ($\text{Selection Ratio} \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0.80$). </a:t>
            </a:r>
          </a:p>
          <a:p>
            <a:pPr lvl="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via SHAP: Implements SHAP (Shapley Additive Explanations) to translate mathematical scores into clear reason codes (e.g., "Flagged due to a 20% spike in utilization and late payment in Month 6"). </a:t>
            </a:r>
          </a:p>
          <a:p>
            <a:pPr lvl="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Compliance: Adheres directly to fair lending frameworks (ECOA, FCRA) by embedding automated adverse action notifications and strict customer data protection protocols. </a:t>
            </a:r>
          </a:p>
          <a:p>
            <a:pPr lvl="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Intervention Overrides: Frontline collections agents have full authority to pause automated sequences and override model decisions based on customer circumstances.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1A311-159D-8EE3-3255-A4EBC7949DD0}"/>
              </a:ext>
            </a:extLst>
          </p:cNvPr>
          <p:cNvSpPr txBox="1"/>
          <p:nvPr/>
        </p:nvSpPr>
        <p:spPr>
          <a:xfrm>
            <a:off x="536331" y="4384630"/>
            <a:ext cx="702505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principles are embedded into the design. Collections agents are equipped with clear, plain-language reason codes on their screens, allowing for transparent, compliant, and empathetic customer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Phased Implementation Roadmap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4AF66F-2744-EB51-7BF7-3CEAF55CE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0" y="1640959"/>
            <a:ext cx="87561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1: Foundation &amp; Preprocessing (Month 1):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data imputation pipelines (median income/score, predictive loan balance).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 CRM fields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Employment_Status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labels, payment recency flags).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compliance thresholds and data privacy guardrails.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2: Pilot &amp; Model Calibration (Months 2–3):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risk-scoring engine in shadow/pilot mode.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A/B testing on automated early SMS/email reminders vs. standard outreach.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 weekly Disparate Impact and false positive rates across age and region.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3: Full Autonomous Deployment &amp; Scale (Month 4+):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live Agentic AI routing for low/medium risk tiers.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automated self-service repayment restructuring workflows.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 monthly drift monitoring (PSI) and retraining cycles. 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350" y="449996"/>
            <a:ext cx="8369300" cy="6858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US" dirty="0"/>
              <a:t>Expected Business Impact:</a:t>
            </a:r>
            <a:br>
              <a:rPr lang="en-US" dirty="0"/>
            </a:br>
            <a:r>
              <a:rPr lang="en-US" dirty="0"/>
              <a:t>				        </a:t>
            </a:r>
            <a:r>
              <a:rPr lang="en-US" sz="1800" dirty="0"/>
              <a:t>Quantitative &amp; Qualitative Value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1C1586-A20C-A977-8C3F-F3F5F25ED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4067" y="1264609"/>
            <a:ext cx="8756650" cy="351480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KPIs (Quantitative):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Reduction in 90-Day Roll Rates: Drastically curtails accounts rolling from short-term arrears into severe default.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15–20% Reduction in Collections Costs: Eliminates manual outbound calls on low-risk accounts via digital, automated channels.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$3.5\times$ ROI on Default Prevention: Preserves principal recovery and cuts external collection agency referral fees.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Operational Outcomes (Qualitative):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Empathetic Customer Experience: Replaces harsh debt recovery tactics with proactive restructuring options, boosting customer retention.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Scalability: Enables 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Geldium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expand its lending portfolio without scaling collections staff headcount linearly. </a:t>
            </a:r>
          </a:p>
          <a:p>
            <a:pPr lvl="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Defensibility: Full audit logs and transparent SHAP explanations provide complete protection during regulatory examinations.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11B45-CA0C-7B5D-45EA-B21B2410050B}"/>
              </a:ext>
            </a:extLst>
          </p:cNvPr>
          <p:cNvSpPr txBox="1"/>
          <p:nvPr/>
        </p:nvSpPr>
        <p:spPr>
          <a:xfrm>
            <a:off x="123581" y="4631231"/>
            <a:ext cx="80889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initiative converts collections from a reactive cost center into an early-intervention engine. It reduces credit losses, scales operational capacity, and strengthens customer trust through fair, transparent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1198</Words>
  <Application>Microsoft Office PowerPoint</Application>
  <PresentationFormat>On-screen Show (16:9)</PresentationFormat>
  <Paragraphs>74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Times New Roman</vt:lpstr>
      <vt:lpstr>Roboto Slab</vt:lpstr>
      <vt:lpstr>Arial</vt:lpstr>
      <vt:lpstr>Marina</vt:lpstr>
      <vt:lpstr>AI-Powered Collections Strategy</vt:lpstr>
      <vt:lpstr>Portfolio Delinquency Drivers (EDA Summary)</vt:lpstr>
      <vt:lpstr>How the System Works:         4-stage operating pipeline</vt:lpstr>
      <vt:lpstr>Role of Agentic AI:       Autonomous Vs. Human Oversight</vt:lpstr>
      <vt:lpstr>Responsible AI Guardrails:            Fairness, Transparnecy  Compliance</vt:lpstr>
      <vt:lpstr>Phased Implementation Roadmap</vt:lpstr>
      <vt:lpstr>Expected Business Impact:             Quantitative &amp; Qualitative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Manohar Dalli</cp:lastModifiedBy>
  <cp:revision>3</cp:revision>
  <dcterms:modified xsi:type="dcterms:W3CDTF">2026-09-24T12:51:51Z</dcterms:modified>
</cp:coreProperties>
</file>